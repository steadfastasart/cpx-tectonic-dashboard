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2744"/>
                </a:solidFill>
                <a:latin typeface="Calibri"/>
              </a:defRPr>
            </a:pPr>
            <a:r>
              <a:t>Clinopyroxene Tectonic Setting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563EB"/>
                </a:solidFill>
                <a:latin typeface="Calibri"/>
              </a:defRPr>
            </a:pPr>
            <a:r>
              <a:t>43-Feature Model: Machine Learning Analysis of 211,773 Geochemical Analyses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Data source: GEOROC / GRO.data  DOI:10.25625/SGFTFN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XGBoost  |  SHAP Interpretation  |  90/10 Stratified Split  |  43 Geochemical Features (Major + Trace)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Total records:               216,809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Valid (with tectonic label):  211,773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Columns:                      451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Tectonic settings:          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Class imbalance ratio:        409.8 : 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with complete majors:    0  (zero)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missing ALL trace:       172,142  (81%)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Feature groups used:          43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Major oxides: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Trace elements: 32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Missing Data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ssing_per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303520" cy="4572000"/>
          </a:xfrm>
          <a:prstGeom prst="rect">
            <a:avLst/>
          </a:prstGeom>
        </p:spPr>
      </p:pic>
      <p:pic>
        <p:nvPicPr>
          <p:cNvPr id="5" name="Picture 4" descr="missing_per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035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Zero rows have complete major oxide coverage. 81% of rows (172,142) are missing ALL 32 trace elements.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 Availability -- Temporal Metadata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Only 0.076% of samples have AGE(MA) metadata (161 / 211,773)</a:t>
            </a:r>
          </a:p>
        </p:txBody>
      </p:sp>
      <p:pic>
        <p:nvPicPr>
          <p:cNvPr id="5" name="Picture 4" descr="age_er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6858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1A2744"/>
                </a:solidFill>
                <a:latin typeface="Calibri"/>
              </a:defRPr>
            </a:pPr>
            <a:r>
              <a:t>Age coverage: 0.076%</a:t>
            </a:r>
          </a:p>
          <a:p>
            <a:pPr>
              <a:spcAft>
                <a:spcPts val="1000"/>
              </a:spcAft>
              <a:defRPr sz="1300" i="1">
                <a:solidFill>
                  <a:srgbClr val="D97706"/>
                </a:solidFill>
                <a:latin typeface="Calibri"/>
              </a:defRPr>
            </a:pPr>
            <a:r>
              <a:t>6 / 11 classes have ZERO aged samples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Intraplate: 16 / 84,835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Conv. Margin: 125 / 56,216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Ocean Island: 11 / 24,008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CFB: 0 / 20,816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Rift Volc.: 3 / 13,689</a:t>
            </a:r>
          </a:p>
          <a:p>
            <a:pPr>
              <a:spcAft>
                <a:spcPts val="200"/>
              </a:spcAft>
              <a:defRPr sz="1300" b="0">
                <a:solidFill>
                  <a:srgbClr val="059669"/>
                </a:solidFill>
                <a:latin typeface="Consolas"/>
              </a:defRPr>
            </a:pPr>
            <a:r>
              <a:t>Complex Volc.: 6 / 4,201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Seamount: 0 / 3,907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Arch. Craton: 0 / 2,189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Oceanic Plat.: 0 / 1,472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Sub. Ridge: 0 / 233</a:t>
            </a:r>
          </a:p>
          <a:p>
            <a:pPr>
              <a:spcAft>
                <a:spcPts val="200"/>
              </a:spcAft>
              <a:defRPr sz="1300" b="1">
                <a:solidFill>
                  <a:srgbClr val="D97706"/>
                </a:solidFill>
                <a:latin typeface="Consolas"/>
              </a:defRPr>
            </a:pPr>
            <a:r>
              <a:t>OBF: 0 / 207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Age metadata cannot be used for feature engineering or stratification. Recommend flagging to GEOROC / GRO.data maintainers.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Spatial Distribution of 39,631 Predictions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at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39,631 predictions: 39,316 correct (99.2%), 315 misclassified (red edges). Misclassifications are geographically dispersed, not clustered.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Discrimination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K2O shows by far the strongest inter-class separation (CV = 1.753) -- not traditionally considered a key CPX discriminator.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Major Oxide Correlation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67512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Strong correlations: FeOT-MgO (r=-0.62), SiO2-TiO2 (r=-0.69), SiO2-Al2O3 (r=-0.64). These affect model interpretation via feature collinearity.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Trace Element Correlation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REE block (La-Lu) shows strong internal correlations (r &gt; 0.8). HFSE (Zr, Hf, Nb, Ta) form a second correlated group. These clusters inform feature importance interpretation.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Experiment Matrix: 9 Data Subsets × 6 Feature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perimen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54 experiments, 5-fold stratified CV each. Best practical: Has Trace × Major+Trace (43 feat) = F1m 0.902. Black border = best per row.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Trace Elements Are the Decisive Discriminator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e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229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Trace elements add +0.475 F1 over major oxides alone. Endmembers add only +0.006 over Major+Trace -- dropped for parsimony (43 features).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43-Feature Model, 90/10 Split: Test Set 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_matrix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05840"/>
            <a:ext cx="850392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43-feature model test set: F1-macro = 0.914. Diagonal dominance is strong across all 11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Per-Class Classification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400800" cy="48463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188720"/>
          <a:ext cx="4754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280160"/>
              </a:tblGrid>
              <a:tr h="4038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Oceanic Plateau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0.700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Rift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0.861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Archean Craton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Seamount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0.875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Cont. Flood Basalt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292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Complex Volcanic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0.949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Ocean Island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228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0.949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Intraplate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1,699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0.959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Convergent Margin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1,408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Ocean-Basin Flood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59669"/>
                          </a:solidFill>
                          <a:latin typeface="Calibri"/>
                        </a:defRPr>
                      </a:pPr>
                      <a:r>
                        <a:t>Submarine Ridge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Hardest classes: Archean Craton (F1=0.76, n=194), Oceanic Plateau (F1=0.82, n=116) -- both confused with Intraplate Volcanics. Easiest: Ocean-Basin Flood (F1=0.98, n=59).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Importance: XGBoost Gain vs. SHAP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43-feature model (Major+Trace, no endmembers). Both Gain and SHAP highlight trace elements (Sr, Sm, Zr) as key prediction drivers.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SHAP Per-Class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6012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Signed SHAP shows feature-class relationships. Sr pushes toward Convergent Margin but away from Archean Craton and Submarine Ridge.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Basalt Subset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sal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Basalt phenocryst + trace data achieves F1-macro = 0.936 (5-fold CV, 8 classes). Trace elements consistently provide the decisive performance boost.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Stratified Evaluation: Best Practical on Basalt + Phenocryst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ified_eva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46634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6692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40080"/>
                <a:gridCol w="1097280"/>
                <a:gridCol w="1097280"/>
                <a:gridCol w="1097280"/>
              </a:tblGrid>
              <a:tr h="538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Sliced 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Indep F1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(I−S)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Convergent Margin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0.997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0.961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-0.036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-0.113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Ocean Island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-0.028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Intraplate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-0.079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Complex Volcanic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-0.022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Rift Volcanics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+0.000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Oceanic Plateau !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+0.000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Cont. Flood Basalt !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0.889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onsolas"/>
                        </a:defRPr>
                      </a:pPr>
                      <a:r>
                        <a:t>+0.111</a:t>
                      </a:r>
                    </a:p>
                  </a:txBody>
                  <a:tcPr anchor="ctr">
                    <a:solidFill>
                      <a:srgbClr val="FFF4E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43-feature model on the 783 basalt+phenocryst samples gives F1m = 0.980. The gap to the independently trained model is driven mainly by small-class overfitting. No specialised model needed.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Key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059669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43-feature model (Major+Trace, no endmembers): F1-macro = 0.914 on test set (90/10 split, 39,631 rows)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059669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Endmembers contribute &lt;0.006 F1; dropped for parsimony (43 vs 50 features)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D97706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Trace elements are decisive: +0.475 F1-macro contribution when added to major oxides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2563EB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K2O is the strongest statistical discriminator among major oxides (CV = 1.753)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1A2744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SHAP analysis: Sr, Sm, Zr, Sc have the highest individual prediction impact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7C3AED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Intraplate Volcanics dominated by mantle xenoliths -- F1 drops on basalt+phenocryst slice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1A2744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54-experiment matrix (9 subsets x 6 feature groups) confirms robustness across configurations</a:t>
            </a:r>
          </a:p>
          <a:p>
            <a:pPr>
              <a:spcAft>
                <a:spcPts val="100"/>
              </a:spcAft>
            </a:pPr>
          </a:p>
          <a:p>
            <a:pPr>
              <a:spcBef>
                <a:spcPts val="100"/>
              </a:spcBef>
              <a:spcAft>
                <a:spcPts val="500"/>
              </a:spcAft>
              <a:defRPr sz="1500" i="0">
                <a:solidFill>
                  <a:srgbClr val="333333"/>
                </a:solidFill>
                <a:latin typeface="Calibri"/>
              </a:defRPr>
            </a:pPr>
            <a:r>
              <a:rPr sz="1300">
                <a:solidFill>
                  <a:srgbClr val="2563EB"/>
                </a:solidFill>
                <a:latin typeface="Calibri"/>
              </a:rPr>
              <a:t>■  </a:t>
            </a:r>
            <a:r>
              <a:rPr sz="1500">
                <a:solidFill>
                  <a:srgbClr val="333333"/>
                </a:solidFill>
                <a:latin typeface="Calibri"/>
              </a:rPr>
              <a:t>Class imbalance (409.8 : 1) managed via balanced sample weights, not resampling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Methodology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XGBoost (tree_method='hist')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max_depth = 12, learning_rate = 0.08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n_estimators = 400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Native NaN handling (no imputation)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Balanced sample weights for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59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39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90/10 stratified split (primary model)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54-experiment matrix with 5-fold CV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F1-macro as primary metric (equal class weighting)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11 major oxides (SiO2 through NiO)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32 trace elements (Sc through U)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43 total features (no endmembers)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99816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11296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SHAP TreeExplainer (1,000 sample subset)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Global and per-class feature importance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Signed SHAP values for directional effects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Data: GEOROC / GRO.data (DOI:10.25625/SGFTFN)  |  211,773 clinopyroxene analyses  |  11 tectonic settings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