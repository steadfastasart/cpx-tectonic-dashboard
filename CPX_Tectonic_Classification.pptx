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2744"/>
                </a:solidFill>
                <a:latin typeface="Calibri"/>
              </a:defRPr>
            </a:pPr>
            <a:r>
              <a:t>Clinopyroxene Tectonic Setting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563EB"/>
                </a:solidFill>
                <a:latin typeface="Calibri"/>
              </a:defRPr>
            </a:pPr>
            <a:r>
              <a:t>Machine Learning Analysis of 211,773 Geochemical Analyses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Data source: GEOROC / GRO.data  DOI:10.25625/SGFTFN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XGBoost  |  SHAP Interpretation  |  5-Fold Stratified CV  |  50 Geochemical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Total records:               216,809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Valid (with tectonic label):  211,773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Columns:                      451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Tectonic settings:          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Class imbalance ratio:        409.8 : 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with complete majors:    0  (zero)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missing ALL trace:       172,142  (81%)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Feature groups used:          50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Major oxides: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Trace elements: 32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Endmembers:     7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Missing Data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ssing_per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303520" cy="4572000"/>
          </a:xfrm>
          <a:prstGeom prst="rect">
            <a:avLst/>
          </a:prstGeom>
        </p:spPr>
      </p:pic>
      <p:pic>
        <p:nvPicPr>
          <p:cNvPr id="5" name="Picture 4" descr="missing_per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Zero rows have complete major oxide coverage. 81% of rows (172,142) are missing ALL 32 trace elements.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Discrimination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K2O shows by far the strongest inter-class separation (CV = 1.753) -- not traditionally considered a key CPX discriminator.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Major Oxide Correlation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67512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Strong correlations: FeOT-MgO (r=-0.62), SiO2-TiO2 (r=-0.69), SiO2-Al2O3 (r=-0.64). These affect model interpretation via feature collinearity.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Experiment Summary: 17 Models Across 4 Data Subsets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1097280"/>
                <a:gridCol w="1097280"/>
                <a:gridCol w="1463040"/>
                <a:gridCol w="2468880"/>
              </a:tblGrid>
              <a:tr h="294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F1-macro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M2_T0 (full trace)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1,195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0.959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Full-Trace-Missing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0.909 +/- 0.005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 +/- 0.011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M1 + All Features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0.824 +/- 0.004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M1 (major miss≤1)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Native NaN (XGBoost)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203,179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Dataset (CV verified)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211,773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0.762 +/- 0.008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Hierarchical (S1+S2)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42,355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18+32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0.742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0.734 +/- 0.023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Baseline (median impute)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177,947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(all features)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0.717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0.676 +/- 0.068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0.621 +/- 0.026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0.616 +/- 0.017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0.576 +/- 0.029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Trace-Miss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0.432 +/- 0.012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Green row = best practical model. M2_T0 has highest F1 (0.972) but only 1,195 samples.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Model Performance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Trace Elements Are the Decisive Discriminator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229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Removing trace elements collapses F1-macro by ~0.48 in the main subset and ~0.33 in the basalt subset. Trace elements carry the tectonic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Importance: XGBoost Gain vs. SHAP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Gain emphasizes structural features (NiO, Fs endmember); SHAP highlights trace elements (Sr, Sm, Zr) as key prediction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SHAP Per-Class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6012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Signed SHAP shows feature-class relationships. Sr pushes toward Convergent Margin but away from Archean Craton and Submarine Ridge.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5-Fold Cross-Validation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_matrix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05840"/>
            <a:ext cx="850392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Best model: F1-macro = 0.909 +/- 0.005. Archean Craton (F1=0.758) and Oceanic Plateau (F1=0.816) are most challenging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Basalt Subset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sal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Basalt phenocryst + trace data achieves F1-macro = 0.959 (783 rows, 8 classes). Trace elements consistently provide the decisive performance boost.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Stratified Evaluation: Best Practical on Basalt + Phenocryst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ified_eva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46634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6692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40080"/>
                <a:gridCol w="1097280"/>
                <a:gridCol w="1097280"/>
                <a:gridCol w="1097280"/>
              </a:tblGrid>
              <a:tr h="538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Sliced 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 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(I−S)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Convergent Margin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0.961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+0.006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-0.031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Ocean Island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-0.006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Intraplate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onsolas"/>
                        </a:defRPr>
                      </a:pPr>
                      <a:r>
                        <a:t>+0.056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Complex Volcanic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+0.023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Rift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+0.041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Oceanic Plateau ⚠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+0.030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Cont. Flood Basalt ⚠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0.667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onsolas"/>
                        </a:defRPr>
                      </a:pPr>
                      <a:r>
                        <a:t>+0.333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Slicing the best practical model's OOF to the 783 basalt+phenocryst samples gives F1m = 0.903; the +0.056 gap to the independently trained model is driven mainly by CFB (n=5) and Oceanic Plateau (n=16) overfitting. No specialised model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Per-Class Classification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400800" cy="4846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188720"/>
          <a:ext cx="4754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280160"/>
              </a:tblGrid>
              <a:tr h="4038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Archean Craton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194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0.758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Oceanic Plateau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0.816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Rift Volcanics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1,894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Seamount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0.885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Cont. Flood 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2,919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0.916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Ocean Island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2,278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0.934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Complex Volcanic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576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Intraplate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16,988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Submarine Ridge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Convergent Margin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14,078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Ocean-Basin Flood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Hardest classes: Archean Craton (F1=0.76, n=194), Oceanic Plateau (F1=0.82, n=116) -- both confused with Intraplate Volcanics. Easiest: Ocean-Basin Flood (F1=0.98, n=59).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 Availability -- Temporal Metadata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Only 0.076% of samples have AGE(MA) metadata (161 / 211,773)</a:t>
            </a:r>
          </a:p>
        </p:txBody>
      </p:sp>
      <p:pic>
        <p:nvPicPr>
          <p:cNvPr id="5" name="Picture 4" descr="age_er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A2744"/>
                </a:solidFill>
                <a:latin typeface="Calibri"/>
              </a:defRPr>
            </a:pPr>
            <a:r>
              <a:t>Age coverage: 0.076%</a:t>
            </a:r>
          </a:p>
          <a:p>
            <a:pPr>
              <a:spcAft>
                <a:spcPts val="1000"/>
              </a:spcAft>
              <a:defRPr sz="1300" i="1">
                <a:solidFill>
                  <a:srgbClr val="D97706"/>
                </a:solidFill>
                <a:latin typeface="Calibri"/>
              </a:defRPr>
            </a:pPr>
            <a:r>
              <a:t>6 / 11 classes have ZERO aged samples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Intraplate: 16 / 84,835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Conv. Margin: 125 / 56,216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Ocean Island: 11 / 24,008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CFB: 0 / 20,816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Rift Volc.: 3 / 13,689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Complex Volc.: 6 / 4,201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Seamount: 0 / 3,907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Arch. Craton: 0 / 2,189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Oceanic Plat.: 0 / 1,472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Sub. Ridge: 0 / 233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OBF: 0 / 207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Age metadata cannot be used for feature engineering or stratification. Recommend flagging to GEOROC / GRO.data maintainers.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Key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059669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Best practical model: F1-macro = 0.909 +/- 0.005 (5-fold CV, 39,631 rows, 50 features)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059669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Trace elements are decisive: +0.477 F1-macro contribution when added to major oxides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D97706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K2O is the strongest statistical discriminator among major oxides (CV = 1.753)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2563EB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SHAP analysis: Sr, Sm, Zr, Sc have the highest individual prediction impact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1A2744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Stratified eval: best practical reaches F1m=0.903 on the 783 basalt+phenocryst slice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400" i="1">
                <a:solidFill>
                  <a:srgbClr val="666666"/>
                </a:solidFill>
                <a:latin typeface="Calibri"/>
              </a:defRPr>
            </a:pPr>
            <a:r>
              <a:t>  (indep. training 0.959; +0.056 gap driven by CFB n=5 and Oceanic Plateau n=16)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7C3AED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Intraplate Volcanics F1 drops 0.956 -&gt; 0.848 on basalt+phenocryst slice: the overall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400" i="1">
                <a:solidFill>
                  <a:srgbClr val="666666"/>
                </a:solidFill>
                <a:latin typeface="Calibri"/>
              </a:defRPr>
            </a:pPr>
            <a:r>
              <a:t>  Intraplate class is dominated by mantle xenoliths, not phenocryst basalts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1A2744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Class imbalance (409.8 : 1) managed via balanced sample weights, not resampling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2563EB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Native NaN handling outperforms median imputation (+0.18 F1-macro vs 0.732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Methodology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XGBoost (tree_method='hist')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max_depth = 12, learning_rate = 0.08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n_estimators = 400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Native NaN handling (no imputation)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Balanced sample weights for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59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39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5-fold stratified cross-validation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F1-macro as primary metric (equal class weighting)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17 experiments across 4 data subsets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11 major oxides (SiO2 through NiO)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32 trace elements (Sc through U)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7 endmember components (Wo, En, Fs, etc.)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50 total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4472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58768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SHAP TreeExplainer (1,000 sample subset)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Global and per-class feature importance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Signed SHAP values for directional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Data: GEOROC / GRO.data (DOI:10.25625/SGFTFN)  |  211,773 clinopyroxene analyses  |  11 tectonic settings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