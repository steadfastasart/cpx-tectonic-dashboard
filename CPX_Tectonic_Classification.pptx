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2744"/>
                </a:solidFill>
                <a:latin typeface="Calibri"/>
              </a:defRPr>
            </a:pPr>
            <a:r>
              <a:t>Clinopyroxene Tectonic Setting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563EB"/>
                </a:solidFill>
                <a:latin typeface="Calibri"/>
              </a:defRPr>
            </a:pPr>
            <a:r>
              <a:t>Machine Learning Analysis of 211,773 Geochemical Analyses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April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Data source: GEOROC / GRO.data  DOI:10.25625/SGFTFN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807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XGBoost  |  SHAP Interpretation  |  5-Fold Stratified CV  |  50 Geochemical Features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Dataset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  <a:r>
              <a:t>Total records:               216,809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  <a:r>
              <a:t>Valid (with tectonic label):  211,773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  <a:r>
              <a:t>Columns:                      451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  <a:r>
              <a:t>Tectonic settings:            11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  <a:r>
              <a:t>Class imbalance ratio:        409.8 : 1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  <a:r>
              <a:t>Rows with complete majors:    0  (zero)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  <a:r>
              <a:t>Rows missing ALL trace:       172,142  (81%)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  <a:r>
              <a:t>Feature groups used:          50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  <a:r>
              <a:t>   Major oxides:  11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  <a:r>
              <a:t>   Trace elements: 32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onsolas"/>
              </a:defRPr>
            </a:pPr>
            <a:r>
              <a:t>   Endmembers:     7</a:t>
            </a:r>
          </a:p>
        </p:txBody>
      </p:sp>
      <p:pic>
        <p:nvPicPr>
          <p:cNvPr id="5" name="Picture 4" descr="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Missing Data Challenge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issing_per_fe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303520" cy="4572000"/>
          </a:xfrm>
          <a:prstGeom prst="rect">
            <a:avLst/>
          </a:prstGeom>
        </p:spPr>
      </p:pic>
      <p:pic>
        <p:nvPicPr>
          <p:cNvPr id="5" name="Picture 4" descr="missing_per_r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188720"/>
            <a:ext cx="530352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Zero rows have complete major oxide coverage. 81% of rows (172,142) are missing ALL 32 trace elements.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Feature Discrimination Power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scrimin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105156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K2O shows by far the strongest inter-class separation (CV = 1.753) -- not traditionally considered a key CPX discriminator.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Major Oxide Correlation Matrix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relat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97280"/>
            <a:ext cx="6675120" cy="5212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Strong correlations: FeOT-MgO (r=-0.62), SiO2-TiO2 (r=-0.69), SiO2-Al2O3 (r=-0.64). These affect model interpretation via feature collinearity.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Experiment Summary: 17 Models Across 4 Data Subsets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188720"/>
          <a:ext cx="1161288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4023360"/>
                <a:gridCol w="1097280"/>
                <a:gridCol w="1097280"/>
                <a:gridCol w="1463040"/>
                <a:gridCol w="2468880"/>
              </a:tblGrid>
              <a:tr h="29464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Group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Experiment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Rows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F1-macro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Validation</a:t>
                      </a:r>
                    </a:p>
                  </a:txBody>
                  <a:tcPr>
                    <a:solidFill>
                      <a:srgbClr val="1A2744"/>
                    </a:solidFill>
                  </a:tcPr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Quality Subsets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Subset M2_T0 (full trace)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1,195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50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0.972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80/20 split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7C3AED"/>
                          </a:solidFill>
                          <a:latin typeface="Calibri"/>
                        </a:defRPr>
                      </a:pPr>
                      <a:r>
                        <a:t>Phenocryst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Basalt Pheno + Trace Data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783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0.959 +/- 0.007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5-fold CV</a:t>
                      </a:r>
                    </a:p>
                  </a:txBody>
                  <a:tcPr anchor="ctr"/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Quality Subsets</a:t>
                      </a:r>
                    </a:p>
                  </a:txBody>
                  <a:tcPr anchor="ctr">
                    <a:solidFill>
                      <a:srgbClr val="E6F9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Excl. Full-Trace-Missing</a:t>
                      </a:r>
                    </a:p>
                  </a:txBody>
                  <a:tcPr anchor="ctr">
                    <a:solidFill>
                      <a:srgbClr val="E6F9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39,631</a:t>
                      </a:r>
                    </a:p>
                  </a:txBody>
                  <a:tcPr anchor="ctr">
                    <a:solidFill>
                      <a:srgbClr val="E6F9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50</a:t>
                      </a:r>
                    </a:p>
                  </a:txBody>
                  <a:tcPr anchor="ctr">
                    <a:solidFill>
                      <a:srgbClr val="E6F9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0.909 +/- 0.005</a:t>
                      </a:r>
                    </a:p>
                  </a:txBody>
                  <a:tcPr anchor="ctr">
                    <a:solidFill>
                      <a:srgbClr val="E6F9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5-fold CV</a:t>
                      </a:r>
                    </a:p>
                  </a:txBody>
                  <a:tcPr anchor="ctr">
                    <a:solidFill>
                      <a:srgbClr val="E6F9EF"/>
                    </a:solidFill>
                  </a:tcPr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7706"/>
                          </a:solidFill>
                          <a:latin typeface="Calibri"/>
                        </a:defRPr>
                      </a:pPr>
                      <a:r>
                        <a:t>Basalt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Basalt + Trace Data (all feat)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3,298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0.904 +/- 0.011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5-fold CV</a:t>
                      </a:r>
                    </a:p>
                  </a:txBody>
                  <a:tcPr anchor="ctr"/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Quality Subsets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M1 + All Features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99,840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50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0.824 +/- 0.004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5-fold CV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Quality Subsets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Subset M1 (major miss≤1)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99,840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0.822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80/20 split</a:t>
                      </a:r>
                    </a:p>
                  </a:txBody>
                  <a:tcPr anchor="ctr"/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Full Dataset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Native NaN (XGBoost)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203,179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50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0.772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80/20 split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Full Dataset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Full Dataset (CV verified)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211,773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0.762 +/- 0.008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5-fold CV</a:t>
                      </a:r>
                    </a:p>
                  </a:txBody>
                  <a:tcPr anchor="ctr"/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Full Dataset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Hierarchical (S1+S2)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42,355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18+32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0.742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80/20 split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7C3AED"/>
                          </a:solidFill>
                          <a:latin typeface="Calibri"/>
                        </a:defRPr>
                      </a:pPr>
                      <a:r>
                        <a:t>Phenocryst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Basalt Phenocryst (all feat)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9,653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0.734 +/- 0.023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5-fold CV</a:t>
                      </a:r>
                    </a:p>
                  </a:txBody>
                  <a:tcPr anchor="ctr"/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A2744"/>
                          </a:solidFill>
                          <a:latin typeface="Calibri"/>
                        </a:defRPr>
                      </a:pPr>
                      <a:r>
                        <a:t>Full Dataset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Baseline (median impute)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177,947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14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0.732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80/20 split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7706"/>
                          </a:solidFill>
                          <a:latin typeface="Calibri"/>
                        </a:defRPr>
                      </a:pPr>
                      <a:r>
                        <a:t>Basalt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Basalt Subset (all features)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46,530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0.717 +/- 0.007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5-fold CV</a:t>
                      </a:r>
                    </a:p>
                  </a:txBody>
                  <a:tcPr anchor="ctr"/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7C3AED"/>
                          </a:solidFill>
                          <a:latin typeface="Calibri"/>
                        </a:defRPr>
                      </a:pPr>
                      <a:r>
                        <a:t>Phenocryst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Basalt Pheno + Trace (major only)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783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11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0.676 +/- 0.068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5-fold CV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7C3AED"/>
                          </a:solidFill>
                          <a:latin typeface="Calibri"/>
                        </a:defRPr>
                      </a:pPr>
                      <a:r>
                        <a:t>Phenocryst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Basalt Phenocryst (major only)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9,653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0.621 +/- 0.026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5-fold CV</a:t>
                      </a:r>
                    </a:p>
                  </a:txBody>
                  <a:tcPr anchor="ctr"/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7706"/>
                          </a:solidFill>
                          <a:latin typeface="Calibri"/>
                        </a:defRPr>
                      </a:pPr>
                      <a:r>
                        <a:t>Basalt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Basalt Subset (major only)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46,530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11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0.616 +/- 0.017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5-fold CV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D97706"/>
                          </a:solidFill>
                          <a:latin typeface="Calibri"/>
                        </a:defRPr>
                      </a:pPr>
                      <a:r>
                        <a:t>Basalt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Basalt + Trace Data (major only)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3,298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0.576 +/- 0.029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5-fold CV</a:t>
                      </a:r>
                    </a:p>
                  </a:txBody>
                  <a:tcPr anchor="ctr"/>
                </a:tc>
              </a:tr>
              <a:tr h="294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563EB"/>
                          </a:solidFill>
                          <a:latin typeface="Calibri"/>
                        </a:defRPr>
                      </a:pPr>
                      <a:r>
                        <a:t>Quality Subsets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Excl. Trace-Miss (major only)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39,631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11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0.432 +/- 0.012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5-fold CV</a:t>
                      </a:r>
                    </a:p>
                  </a:txBody>
                  <a:tcPr anchor="ctr"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Green row = best practical model. M2_T0 has highest F1 (0.972) but only 1,195 samples.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Model Performance Comparison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Trace Elements Are the Decisive Discriminator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ace_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188720"/>
            <a:ext cx="82296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Removing trace elements collapses F1-macro by ~0.48 in the main subset and ~0.33 in the basalt subset. Trace elements carry the tectonic signal.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Feature Importance: XGBoost Gain vs. SHAP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hap_glo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Gain emphasizes structural features (NiO, Fs endmember); SHAP highlights trace elements (Sr, Sm, Zr) as key prediction drivers.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SHAP Per-Class Feature Importance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hap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601200" cy="5212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Signed SHAP shows feature-class relationships. Sr pushes toward Convergent Margin but away from Archean Craton and Submarine Ridge.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5-Fold Cross-Validation Confusion Matrix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nfusion_matrix_c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005840"/>
            <a:ext cx="8503920" cy="5669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Best model: F1-macro = 0.909 +/- 0.005. Archean Craton (F1=0.758) and Oceanic Plateau (F1=0.816) are most challenging classes.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Basalt Subset Classification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asalt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033272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Calibri"/>
              </a:defRPr>
            </a:pPr>
            <a:r>
              <a:t>Basalt phenocryst + trace data achieves F1-macro = 0.959 (783 rows, 8 classes). Trace elements consistently provide the decisive performance boost.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Key Conclusions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rPr sz="1400">
                <a:solidFill>
                  <a:srgbClr val="059669"/>
                </a:solidFill>
                <a:latin typeface="Calibri"/>
              </a:rPr>
              <a:t>■  </a:t>
            </a:r>
            <a:r>
              <a:rPr sz="1600">
                <a:solidFill>
                  <a:srgbClr val="333333"/>
                </a:solidFill>
                <a:latin typeface="Calibri"/>
              </a:rPr>
              <a:t>Best practical model: F1-macro = 0.909 +/- 0.005 (5-fold CV, 39,631 rows, 50 features)</a:t>
            </a:r>
          </a:p>
          <a:p>
            <a:pPr>
              <a:spcAft>
                <a:spcPts val="200"/>
              </a:spcAft>
            </a:pPr>
          </a:p>
          <a:p>
            <a:pPr>
              <a:spcBef>
                <a:spcPts val="200"/>
              </a:spcBef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rPr sz="1400">
                <a:solidFill>
                  <a:srgbClr val="059669"/>
                </a:solidFill>
                <a:latin typeface="Calibri"/>
              </a:rPr>
              <a:t>■  </a:t>
            </a:r>
            <a:r>
              <a:rPr sz="1600">
                <a:solidFill>
                  <a:srgbClr val="333333"/>
                </a:solidFill>
                <a:latin typeface="Calibri"/>
              </a:rPr>
              <a:t>Trace elements are decisive: +0.477 F1-macro contribution when added to major oxides</a:t>
            </a:r>
          </a:p>
          <a:p>
            <a:pPr>
              <a:spcAft>
                <a:spcPts val="200"/>
              </a:spcAft>
            </a:pPr>
          </a:p>
          <a:p>
            <a:pPr>
              <a:spcBef>
                <a:spcPts val="200"/>
              </a:spcBef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rPr sz="1400">
                <a:solidFill>
                  <a:srgbClr val="D97706"/>
                </a:solidFill>
                <a:latin typeface="Calibri"/>
              </a:rPr>
              <a:t>■  </a:t>
            </a:r>
            <a:r>
              <a:rPr sz="1600">
                <a:solidFill>
                  <a:srgbClr val="333333"/>
                </a:solidFill>
                <a:latin typeface="Calibri"/>
              </a:rPr>
              <a:t>K2O is the strongest statistical discriminator among major oxides (CV = 1.753)</a:t>
            </a:r>
          </a:p>
          <a:p>
            <a:pPr>
              <a:spcAft>
                <a:spcPts val="200"/>
              </a:spcAft>
            </a:pPr>
          </a:p>
          <a:p>
            <a:pPr>
              <a:spcBef>
                <a:spcPts val="200"/>
              </a:spcBef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rPr sz="1400">
                <a:solidFill>
                  <a:srgbClr val="2563EB"/>
                </a:solidFill>
                <a:latin typeface="Calibri"/>
              </a:rPr>
              <a:t>■  </a:t>
            </a:r>
            <a:r>
              <a:rPr sz="1600">
                <a:solidFill>
                  <a:srgbClr val="333333"/>
                </a:solidFill>
                <a:latin typeface="Calibri"/>
              </a:rPr>
              <a:t>SHAP analysis: Sr, Sm, Zr, Sc have the highest individual prediction impact</a:t>
            </a:r>
          </a:p>
          <a:p>
            <a:pPr>
              <a:spcAft>
                <a:spcPts val="200"/>
              </a:spcAft>
            </a:pPr>
          </a:p>
          <a:p>
            <a:pPr>
              <a:spcBef>
                <a:spcPts val="200"/>
              </a:spcBef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rPr sz="1400">
                <a:solidFill>
                  <a:srgbClr val="059669"/>
                </a:solidFill>
                <a:latin typeface="Calibri"/>
              </a:rPr>
              <a:t>■  </a:t>
            </a:r>
            <a:r>
              <a:rPr sz="1600">
                <a:solidFill>
                  <a:srgbClr val="333333"/>
                </a:solidFill>
                <a:latin typeface="Calibri"/>
              </a:rPr>
              <a:t>Basalt phenocryst with trace data: F1-macro = 0.959 (near-perfect, 8 classes)</a:t>
            </a:r>
          </a:p>
          <a:p>
            <a:pPr>
              <a:spcAft>
                <a:spcPts val="200"/>
              </a:spcAft>
            </a:pPr>
          </a:p>
          <a:p>
            <a:pPr>
              <a:spcBef>
                <a:spcPts val="200"/>
              </a:spcBef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rPr sz="1400">
                <a:solidFill>
                  <a:srgbClr val="1A2744"/>
                </a:solidFill>
                <a:latin typeface="Calibri"/>
              </a:rPr>
              <a:t>■  </a:t>
            </a:r>
            <a:r>
              <a:rPr sz="1600">
                <a:solidFill>
                  <a:srgbClr val="333333"/>
                </a:solidFill>
                <a:latin typeface="Calibri"/>
              </a:rPr>
              <a:t>Class imbalance (409.8 : 1) managed via balanced sample weights, not resampling</a:t>
            </a:r>
          </a:p>
          <a:p>
            <a:pPr>
              <a:spcAft>
                <a:spcPts val="200"/>
              </a:spcAft>
            </a:pPr>
          </a:p>
          <a:p>
            <a:pPr>
              <a:spcBef>
                <a:spcPts val="200"/>
              </a:spcBef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rPr sz="1400">
                <a:solidFill>
                  <a:srgbClr val="2563EB"/>
                </a:solidFill>
                <a:latin typeface="Calibri"/>
              </a:rPr>
              <a:t>■  </a:t>
            </a:r>
            <a:r>
              <a:rPr sz="1600">
                <a:solidFill>
                  <a:srgbClr val="333333"/>
                </a:solidFill>
                <a:latin typeface="Calibri"/>
              </a:rPr>
              <a:t>Native NaN handling outperforms median imputation (+0.04 F1-macro)</a:t>
            </a:r>
          </a:p>
          <a:p>
            <a:pPr>
              <a:spcAft>
                <a:spcPts val="200"/>
              </a:spcAft>
            </a:pPr>
          </a:p>
          <a:p>
            <a:pPr>
              <a:spcBef>
                <a:spcPts val="200"/>
              </a:spcBef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rPr sz="1400">
                <a:solidFill>
                  <a:srgbClr val="7C3AED"/>
                </a:solidFill>
                <a:latin typeface="Calibri"/>
              </a:rPr>
              <a:t>■  </a:t>
            </a:r>
            <a:r>
              <a:rPr sz="1600">
                <a:solidFill>
                  <a:srgbClr val="333333"/>
                </a:solidFill>
                <a:latin typeface="Calibri"/>
              </a:rPr>
              <a:t>Complete trace element data (M2_T0): F1 = 0.972, but only 1,195 samples available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744"/>
                </a:solidFill>
                <a:latin typeface="Calibri"/>
              </a:defRPr>
            </a:pPr>
            <a:r>
              <a:t>Methodology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563EB"/>
                </a:solidFill>
                <a:latin typeface="Calibri"/>
              </a:defRPr>
            </a:pPr>
            <a:r>
              <a:t>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4846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XGBoost (tree_method='hist')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max_depth = 12, learning_rate = 0.08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n_estimators = 400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Native NaN handling (no imputation)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Balanced sample weights for class imbalance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94759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563EB"/>
                </a:solidFill>
                <a:latin typeface="Calibri"/>
              </a:defRPr>
            </a:pPr>
            <a:r>
              <a:t>Validation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39"/>
            <a:ext cx="4846320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5-fold stratified cross-validation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F1-macro as primary metric (equal class weighting)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17 experiments across 4 data subsets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37160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563EB"/>
                </a:solidFill>
                <a:latin typeface="Calibri"/>
              </a:defRPr>
            </a:pPr>
            <a:r>
              <a:t>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484632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11 major oxides (SiO2 through NiO)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32 trace elements (Sc through U)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7 endmember components (Wo, En, Fs, etc.)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50 total 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34472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563EB"/>
                </a:solidFill>
                <a:latin typeface="Calibri"/>
              </a:defRPr>
            </a:pPr>
            <a:r>
              <a:t>Interpretation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858768"/>
            <a:ext cx="4846320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SHAP TreeExplainer (1,000 sample subset)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Global and per-class feature importance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Signed SHAP values for directional effects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Calibri"/>
              </a:defRPr>
            </a:pPr>
            <a:r>
              <a:t>Data: GEOROC / GRO.data (DOI:10.25625/SGFTFN)  |  211,773 clinopyroxene analyses  |  11 tectonic settings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