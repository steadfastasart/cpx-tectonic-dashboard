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744"/>
                </a:solidFill>
                <a:latin typeface="Calibri"/>
              </a:defRPr>
            </a:pPr>
            <a:r>
              <a:t>Clinopyroxene Tectonic Setting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2563EB"/>
                </a:solidFill>
                <a:latin typeface="Calibri"/>
              </a:defRPr>
            </a:pPr>
            <a:r>
              <a:t>43-Feature Model: Machine Learning Analysis of 211,773 Geochemical Analyses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Calibri"/>
              </a:defRPr>
            </a:pPr>
            <a:r>
              <a:t>April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66"/>
                </a:solidFill>
                <a:latin typeface="Calibri"/>
              </a:defRPr>
            </a:pPr>
            <a:r>
              <a:t>Data source: GEOROC / GRO.data  DOI:10.25625/SGFTFN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80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XGBoost  |  SHAP Interpretation  |  90/10 Stratified Split  |  43 Geochemical Features (Major + Trace)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Dataset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Total records:               216,809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Valid (with tectonic label):  211,773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Columns:                      451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Tectonic settings:            11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Class imbalance ratio:        409.8 : 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Rows with complete majors:    0  (zero)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Rows missing ALL trace:       172,142  (81%)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Feature groups used:          43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Major oxides:  11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Trace elements: 32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188720"/>
            <a:ext cx="5486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Missing Data Challenge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issing_per_fe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303520" cy="4572000"/>
          </a:xfrm>
          <a:prstGeom prst="rect">
            <a:avLst/>
          </a:prstGeom>
        </p:spPr>
      </p:pic>
      <p:pic>
        <p:nvPicPr>
          <p:cNvPr id="5" name="Picture 4" descr="missing_per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0352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Zero rows have complete major oxide coverage. 81% of rows (172,142) are missing ALL 32 trace elements.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Feature Discrimination Power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iscrimin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K2O shows by far the strongest inter-class separation (CV = 1.753) -- not traditionally considered a key CPX discriminator.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Major Oxide Correlation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67512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Strong correlations: FeOT-MgO (r=-0.62), SiO2-TiO2 (r=-0.69), SiO2-Al2O3 (r=-0.64). These affect model interpretation via feature collinearity.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Experiment Summary: 17 Models Across 4 Data Subsets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023360"/>
                <a:gridCol w="1097280"/>
                <a:gridCol w="1097280"/>
                <a:gridCol w="1463040"/>
                <a:gridCol w="2468880"/>
              </a:tblGrid>
              <a:tr h="294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Group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Experiment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Feat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F1-macro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Quality Subsets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Subset M2_T0 (full trace)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1,195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80/20 split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7C3AED"/>
                          </a:solidFill>
                          <a:latin typeface="Calibri"/>
                        </a:defRPr>
                      </a:pPr>
                      <a:r>
                        <a:t>Phenocryst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Pheno + Trace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783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0.959 +/- 0.007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Quality Subsets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Excl. Full-Trace-Missing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39,631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0.909 +/- 0.005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>
                    <a:solidFill>
                      <a:srgbClr val="E6F9EF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Basalt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+ Trace Data (all feat)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3,298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0.904 +/- 0.011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Quality Subsets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M1 + All Features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99,840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0.824 +/- 0.004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Quality Subsets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Subset M1 (major miss≤1)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99,840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80/20 split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Full Dataset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Native NaN (XGBoost)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203,179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80/20 split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Full Dataset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Full Dataset (CV verified)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211,773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0.762 +/- 0.008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Full Dataset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Hierarchical (S1+S2)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42,355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18+32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0.742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80/20 split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7C3AED"/>
                          </a:solidFill>
                          <a:latin typeface="Calibri"/>
                        </a:defRPr>
                      </a:pPr>
                      <a:r>
                        <a:t>Phenocryst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Phenocryst (all feat)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9,653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0.734 +/- 0.023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2744"/>
                          </a:solidFill>
                          <a:latin typeface="Calibri"/>
                        </a:defRPr>
                      </a:pPr>
                      <a:r>
                        <a:t>Full Dataset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Baseline (median impute)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177,947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0.732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80/20 split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Basalt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Subset (all features)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46,530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0.717 +/- 0.007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7C3AED"/>
                          </a:solidFill>
                          <a:latin typeface="Calibri"/>
                        </a:defRPr>
                      </a:pPr>
                      <a:r>
                        <a:t>Phenocryst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Pheno + Trace (major only)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783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0.676 +/- 0.068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7C3AED"/>
                          </a:solidFill>
                          <a:latin typeface="Calibri"/>
                        </a:defRPr>
                      </a:pPr>
                      <a:r>
                        <a:t>Phenocryst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Phenocryst (major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9,653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0.621 +/- 0.026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Basalt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Subset (major only)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46,530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0.616 +/- 0.017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Basalt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Basalt + Trace Data (major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3,298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0.576 +/- 0.029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/>
                </a:tc>
              </a:tr>
              <a:tr h="2946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Quality Subsets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Excl. Trace-Miss (major only)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39,631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0.432 +/- 0.012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5-fold CV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Green row = best practical model. M2_T0 has highest F1 (0.972) but only 1,195 samples. See Slide 17 for the full 54-experiment matrix.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Trace Elements Are the Decisive Discriminator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race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188720"/>
            <a:ext cx="822960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Trace elements add +0.475 F1 over major oxides alone. Endmembers add only +0.006 over Major+Trace -- dropped for parsimony (43 features).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Feature Importance: XGBoost Gain vs. SHAP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_glob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43-feature model (Major+Trace, no endmembers). Both Gain and SHAP highlight trace elements (Sr, Sm, Zr) as key prediction drivers.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SHAP Per-Class Feature Importance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hap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9601200" cy="5212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Signed SHAP shows feature-class relationships. Sr pushes toward Convergent Margin but away from Archean Craton and Submarine Ridge.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43-Feature Model, 90/10 Split: Test Set Confusion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usion_matrix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05840"/>
            <a:ext cx="8503920" cy="5669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43-feature model test set: F1-macro = 0.914. Diagonal dominance is strong across all 11 classes.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Basalt Subset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basal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88720"/>
            <a:ext cx="10332720" cy="4754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Basalt phenocryst + trace data achieves F1-macro = 0.959 (783 rows, 8 classes). Trace elements consistently provide the decisive performance boost.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Stratified Evaluation: Best Practical on Basalt + Phenocryst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tratified_eval_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5669280" cy="466344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309360" y="1280160"/>
          <a:ext cx="5669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640080"/>
                <a:gridCol w="1097280"/>
                <a:gridCol w="1097280"/>
                <a:gridCol w="1097280"/>
              </a:tblGrid>
              <a:tr h="5384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Sliced F1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Indep F1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Δ (I−S)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Convergent Margin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424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0.997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0.961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-0.036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Seamount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-0.113</a:t>
                      </a:r>
                    </a:p>
                  </a:txBody>
                  <a:tcPr anchor="ctr"/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Ocean Island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90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-0.028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Intraplate Volcanics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0.983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-0.079</a:t>
                      </a:r>
                    </a:p>
                  </a:txBody>
                  <a:tcPr anchor="ctr"/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Complex Volcanic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0.978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59669"/>
                          </a:solidFill>
                          <a:latin typeface="Consolas"/>
                        </a:defRPr>
                      </a:pPr>
                      <a:r>
                        <a:t>-0.022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Rift Volcanics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39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+0.000</a:t>
                      </a:r>
                    </a:p>
                  </a:txBody>
                  <a:tcPr anchor="ctr"/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Oceanic Plateau ⚠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+0.000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</a:tr>
              <a:tr h="53848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Cont. Flood Basalt ⚠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0.889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7706"/>
                          </a:solidFill>
                          <a:latin typeface="Consolas"/>
                        </a:defRPr>
                      </a:pPr>
                      <a:r>
                        <a:t>+0.111</a:t>
                      </a:r>
                    </a:p>
                  </a:txBody>
                  <a:tcPr anchor="ctr">
                    <a:solidFill>
                      <a:srgbClr val="FFF4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43-feature model on the 783 basalt+phenocryst samples gives F1m = 0.980. The gap to the independently trained model is driven mainly by small-class overfitting. No specialised model needed.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Per-Class Classification Performance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er_class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188720"/>
            <a:ext cx="6400800" cy="48463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132320" y="1188720"/>
          <a:ext cx="47548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914400"/>
                <a:gridCol w="1280160"/>
              </a:tblGrid>
              <a:tr h="4038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Class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</a:t>
                      </a:r>
                    </a:p>
                  </a:txBody>
                  <a:tcPr>
                    <a:solidFill>
                      <a:srgbClr val="1A2744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D97706"/>
                          </a:solidFill>
                          <a:latin typeface="Calibri"/>
                        </a:defRPr>
                      </a:pPr>
                      <a:r>
                        <a:t>Oceanic Plateau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0.700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Rift Volcanics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0.861</a:t>
                      </a:r>
                    </a:p>
                  </a:txBody>
                  <a:tcPr anchor="ctr"/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Archean Craton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0.872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Seamount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0.875</a:t>
                      </a:r>
                    </a:p>
                  </a:txBody>
                  <a:tcPr anchor="ctr"/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Cont. Flood Basalt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292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0.907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Complex Volcanic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0.949</a:t>
                      </a:r>
                    </a:p>
                  </a:txBody>
                  <a:tcPr anchor="ctr"/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Ocean Island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228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0.949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Intraplate Volcanics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1,699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0.959</a:t>
                      </a:r>
                    </a:p>
                  </a:txBody>
                  <a:tcPr anchor="ctr"/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Convergent Margin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1,408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0.977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Ocean-Basin Flood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/>
                </a:tc>
              </a:tr>
              <a:tr h="40386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59669"/>
                          </a:solidFill>
                          <a:latin typeface="Calibri"/>
                        </a:defRPr>
                      </a:pPr>
                      <a:r>
                        <a:t>Submarine Ridge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onsolas"/>
                        </a:defRPr>
                      </a:pPr>
                      <a:r>
                        <a:t>1.000</a:t>
                      </a:r>
                    </a:p>
                  </a:txBody>
                  <a:tcPr anchor="ctr"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Hardest classes: Archean Craton (F1=0.76, n=194), Oceanic Plateau (F1=0.82, n=116) -- both confused with Intraplate Volcanics. Easiest: Ocean-Basin Flood (F1=0.98, n=59).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Spatial Distribution of 39,631 Predictions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pati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0584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39,631 predictions: 39,316 correct (99.2%), 315 misclassified (red edges). Misclassifications are geographically dispersed, not clustered.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Data Availability -- Temporal Metadata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solidFill>
            <a:srgbClr val="1A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Only 0.076% of samples have AGE(MA) metadata (161 / 211,773)</a:t>
            </a:r>
          </a:p>
        </p:txBody>
      </p:sp>
      <p:pic>
        <p:nvPicPr>
          <p:cNvPr id="5" name="Picture 4" descr="age_era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6858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98079" y="182880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200" b="1">
                <a:solidFill>
                  <a:srgbClr val="1A2744"/>
                </a:solidFill>
                <a:latin typeface="Calibri"/>
              </a:defRPr>
            </a:pPr>
            <a:r>
              <a:t>Age coverage: 0.076%</a:t>
            </a:r>
          </a:p>
          <a:p>
            <a:pPr>
              <a:spcAft>
                <a:spcPts val="1000"/>
              </a:spcAft>
              <a:defRPr sz="1300" i="1">
                <a:solidFill>
                  <a:srgbClr val="D97706"/>
                </a:solidFill>
                <a:latin typeface="Calibri"/>
              </a:defRPr>
            </a:pPr>
            <a:r>
              <a:t>6 / 11 classes have ZERO aged samples</a:t>
            </a:r>
          </a:p>
          <a:p>
            <a:pPr>
              <a:spcAft>
                <a:spcPts val="200"/>
              </a:spcAft>
              <a:defRPr sz="1300" b="0">
                <a:solidFill>
                  <a:srgbClr val="059669"/>
                </a:solidFill>
                <a:latin typeface="Consolas"/>
              </a:defRPr>
            </a:pPr>
            <a:r>
              <a:t>Intraplate: 16 / 84,835</a:t>
            </a:r>
          </a:p>
          <a:p>
            <a:pPr>
              <a:spcAft>
                <a:spcPts val="200"/>
              </a:spcAft>
              <a:defRPr sz="1300" b="0">
                <a:solidFill>
                  <a:srgbClr val="059669"/>
                </a:solidFill>
                <a:latin typeface="Consolas"/>
              </a:defRPr>
            </a:pPr>
            <a:r>
              <a:t>Conv. Margin: 125 / 56,216</a:t>
            </a:r>
          </a:p>
          <a:p>
            <a:pPr>
              <a:spcAft>
                <a:spcPts val="200"/>
              </a:spcAft>
              <a:defRPr sz="1300" b="0">
                <a:solidFill>
                  <a:srgbClr val="059669"/>
                </a:solidFill>
                <a:latin typeface="Consolas"/>
              </a:defRPr>
            </a:pPr>
            <a:r>
              <a:t>Ocean Island: 11 / 24,008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CFB: 0 / 20,816</a:t>
            </a:r>
          </a:p>
          <a:p>
            <a:pPr>
              <a:spcAft>
                <a:spcPts val="200"/>
              </a:spcAft>
              <a:defRPr sz="1300" b="0">
                <a:solidFill>
                  <a:srgbClr val="059669"/>
                </a:solidFill>
                <a:latin typeface="Consolas"/>
              </a:defRPr>
            </a:pPr>
            <a:r>
              <a:t>Rift Volc.: 3 / 13,689</a:t>
            </a:r>
          </a:p>
          <a:p>
            <a:pPr>
              <a:spcAft>
                <a:spcPts val="200"/>
              </a:spcAft>
              <a:defRPr sz="1300" b="0">
                <a:solidFill>
                  <a:srgbClr val="059669"/>
                </a:solidFill>
                <a:latin typeface="Consolas"/>
              </a:defRPr>
            </a:pPr>
            <a:r>
              <a:t>Complex Volc.: 6 / 4,201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Seamount: 0 / 3,907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Arch. Craton: 0 / 2,189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Oceanic Plat.: 0 / 1,472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Sub. Ridge: 0 / 233</a:t>
            </a:r>
          </a:p>
          <a:p>
            <a:pPr>
              <a:spcAft>
                <a:spcPts val="200"/>
              </a:spcAft>
              <a:defRPr sz="1300" b="1">
                <a:solidFill>
                  <a:srgbClr val="D97706"/>
                </a:solidFill>
                <a:latin typeface="Consolas"/>
              </a:defRPr>
            </a:pPr>
            <a:r>
              <a:t>OBF: 0 / 207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Age metadata cannot be used for feature engineering or stratification. Recommend flagging to GEOROC / GRO.data maintainers.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Experiment Matrix: 9 Data Subsets × 6 Feature Groups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xperiment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612880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666666"/>
                </a:solidFill>
                <a:latin typeface="Calibri"/>
              </a:defRPr>
            </a:pPr>
            <a:r>
              <a:t>54 experiments, 5-fold stratified CV each. Best practical: Has Trace × Major+Trace (43 feat) = F1m 0.902. Black border = best per row.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Key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89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059669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43-feature model (Major+Trace, no endmembers): F1-macro = 0.914 on test set (90/10 split, 39,631 rows)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059669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Endmembers contribute &lt;0.006 F1; dropped for parsimony (43 vs 50 features)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D97706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Trace elements are decisive: +0.475 F1-macro contribution when added to major oxides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2563EB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K2O is the strongest statistical discriminator among major oxides (CV = 1.753)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1A2744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SHAP analysis: Sr, Sm, Zr, Sc have the highest individual prediction impact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7C3AED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Intraplate Volcanics dominated by mantle xenoliths -- F1 drops on basalt+phenocryst slice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1A2744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54-experiment matrix (9 subsets x 6 feature groups) confirms robustness across configurations</a:t>
            </a:r>
          </a:p>
          <a:p>
            <a:pPr>
              <a:spcAft>
                <a:spcPts val="100"/>
              </a:spcAft>
            </a:pPr>
          </a:p>
          <a:p>
            <a:pPr>
              <a:spcBef>
                <a:spcPts val="100"/>
              </a:spcBef>
              <a:spcAft>
                <a:spcPts val="500"/>
              </a:spcAft>
              <a:defRPr sz="1500" i="0">
                <a:solidFill>
                  <a:srgbClr val="333333"/>
                </a:solidFill>
                <a:latin typeface="Calibri"/>
              </a:defRPr>
            </a:pPr>
            <a:r>
              <a:rPr sz="1300">
                <a:solidFill>
                  <a:srgbClr val="2563EB"/>
                </a:solidFill>
                <a:latin typeface="Calibri"/>
              </a:rPr>
              <a:t>■  </a:t>
            </a:r>
            <a:r>
              <a:rPr sz="1500">
                <a:solidFill>
                  <a:srgbClr val="333333"/>
                </a:solidFill>
                <a:latin typeface="Calibri"/>
              </a:rPr>
              <a:t>Class imbalance (409.8 : 1) managed via balanced sample weights, not resampling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744"/>
                </a:solidFill>
                <a:latin typeface="Calibri"/>
              </a:defRPr>
            </a:pPr>
            <a:r>
              <a:t>Methodology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0" cy="25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XGBoost (tree_method='hist')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max_depth = 12, learning_rate = 0.08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n_estimators = 400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Native NaN handling (no imputation)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Balanced sample weights for class imbalance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794759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06239"/>
            <a:ext cx="484632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90/10 stratified split (primary model)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54-experiment matrix with 5-fold CV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F1-macro as primary metric (equal class weighting)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37160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484632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11 major oxides (SiO2 through NiO)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32 trace elements (Sc through U)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43 total features (no endmembers)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3099816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563EB"/>
                </a:solidFill>
                <a:latin typeface="Calibri"/>
              </a:defRPr>
            </a:pPr>
            <a:r>
              <a:t>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11296"/>
            <a:ext cx="4846320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SHAP TreeExplainer (1,000 sample subset)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Global and per-class feature importance</a:t>
            </a:r>
          </a:p>
          <a:p>
            <a:pPr>
              <a:spcAft>
                <a:spcPts val="400"/>
              </a:spcAft>
              <a:defRPr sz="1400">
                <a:solidFill>
                  <a:srgbClr val="333333"/>
                </a:solidFill>
                <a:latin typeface="Calibri"/>
              </a:defRPr>
            </a:pPr>
            <a:r>
              <a:t>•  Signed SHAP values for directional effects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66666"/>
                </a:solidFill>
                <a:latin typeface="Calibri"/>
              </a:defRPr>
            </a:pPr>
            <a:r>
              <a:t>Data: GEOROC / GRO.data (DOI:10.25625/SGFTFN)  |  211,773 clinopyroxene analyses  |  11 tectonic settings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